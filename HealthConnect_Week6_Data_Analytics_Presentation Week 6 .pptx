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EB529-CA05-C31A-463C-0A46865923F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922963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G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BE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5839547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6374C"/>
                </a:solidFill>
              </a:defRPr>
            </a:pP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HealthConnect</a:t>
            </a:r>
            <a:r>
              <a:rPr dirty="0">
                <a:solidFill>
                  <a:schemeClr val="accent2">
                    <a:lumMod val="75000"/>
                  </a:schemeClr>
                </a:solidFill>
              </a:rPr>
              <a:t> Clinical Analysis</a:t>
            </a:r>
          </a:p>
          <a:p>
            <a:pPr>
              <a:defRPr sz="2200">
                <a:solidFill>
                  <a:srgbClr val="BE3A3A"/>
                </a:solidFill>
              </a:defRPr>
            </a:pPr>
            <a:r>
              <a:rPr dirty="0"/>
              <a:t>Week 6 | Advanced Analytics &amp; Decision Support</a:t>
            </a:r>
          </a:p>
          <a:p>
            <a:pPr>
              <a:defRPr sz="1600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Data Analytics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017520" cy="13258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APPOINTMENTS ANALYSED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5,000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18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3657600"/>
            <a:ext cx="3017520" cy="13258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OVERALL NO-SHOW RATE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48.5%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Week 5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3657600"/>
            <a:ext cx="3474720" cy="132588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CROSS-TRACK INTEGRATION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Data Science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Feature engineering +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969"/>
                </a:solidFill>
              </a:defRPr>
            </a:pPr>
            <a:r>
              <a:t>HealthConnect | Data Analytics |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89171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Week 5 → Week 6: From Findings to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Week 6 required deeper analysis, validation, dashboard improvement and meaningful cross-track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03030"/>
                </a:solidFill>
              </a:defRPr>
            </a:pPr>
            <a:r>
              <a:t>Week 5 established the baseline: overall no-show rate, lead-time patterns, previous no-show history, reminders and appointment segments.</a:t>
            </a:r>
          </a:p>
          <a:p>
            <a:pPr>
              <a:spcAft>
                <a:spcPts val="1000"/>
              </a:spcAft>
              <a:defRPr sz="1800">
                <a:solidFill>
                  <a:srgbClr val="303030"/>
                </a:solidFill>
              </a:defRPr>
            </a:pPr>
            <a:r>
              <a:t>Week 6 focused on testing how these factors interact and whether the strongest descriptive findings remain useful when considered together.</a:t>
            </a:r>
          </a:p>
          <a:p>
            <a:pPr>
              <a:spcAft>
                <a:spcPts val="1000"/>
              </a:spcAft>
              <a:defRPr sz="1800">
                <a:solidFill>
                  <a:srgbClr val="303030"/>
                </a:solidFill>
              </a:defRPr>
            </a:pPr>
            <a:r>
              <a:t>The Data Science track independently recomputed the key findings and used two analytics suggestions in feature engineering.</a:t>
            </a:r>
          </a:p>
          <a:p>
            <a:pPr>
              <a:spcAft>
                <a:spcPts val="1000"/>
              </a:spcAft>
              <a:defRPr sz="1800">
                <a:solidFill>
                  <a:srgbClr val="303030"/>
                </a:solidFill>
              </a:defRPr>
            </a:pPr>
            <a:r>
              <a:t>The goal was not to repeat the Week 5 dashboard, but to turn the strongest findings into validated and actionable decision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074920"/>
            <a:ext cx="310896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ADVANCED ANALYSIS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Interactions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History × lead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5074920"/>
            <a:ext cx="310896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VALIDATION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Replicated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Data Science </a:t>
            </a:r>
            <a:r>
              <a:rPr dirty="0" err="1">
                <a:solidFill>
                  <a:schemeClr val="accent2">
                    <a:lumMod val="75000"/>
                  </a:schemeClr>
                </a:solidFill>
              </a:rPr>
              <a:t>recomputation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79" y="5074920"/>
            <a:ext cx="310896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INTEGRATION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Adopted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2">
                    <a:lumMod val="75000"/>
                  </a:schemeClr>
                </a:solidFill>
              </a:rPr>
              <a:t>2 feature suggestions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969"/>
                </a:solidFill>
              </a:defRPr>
            </a:pPr>
            <a:r>
              <a:t>HealthConnect | Data Analytics | Week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46428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Key Advanced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The strongest patterns from Week 5 became more useful when examined across segments.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744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Both patterns increase materially with greater prior no-show history and longer booking lead time, making them strong candidates for targeted decision support.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969"/>
                </a:solidFill>
              </a:defRPr>
            </a:pPr>
            <a:r>
              <a:t>HealthConnect | Data Analytics | Week 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8C722E-E8F1-D57C-B356-6D833F150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80918"/>
            <a:ext cx="5306569" cy="36866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96CDDE-6B10-314C-1D5A-E8514AF64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692" y="1655064"/>
            <a:ext cx="5206672" cy="36866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994706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Interaction Analysis: Previous No-Shows × Booking Lead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The combined view shows that risk rises when the two factors occur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1508760"/>
            <a:ext cx="3886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03030"/>
                </a:solidFill>
              </a:defRPr>
            </a:pPr>
            <a:r>
              <a:t>For patients with 0 previous no-shows, the no-show rate rises from 21.8% at 0–7 days to 55.2% at 31–60 days.</a:t>
            </a:r>
          </a:p>
          <a:p>
            <a:pPr>
              <a:spcAft>
                <a:spcPts val="1000"/>
              </a:spcAft>
              <a:defRPr sz="1400">
                <a:solidFill>
                  <a:srgbClr val="303030"/>
                </a:solidFill>
              </a:defRPr>
            </a:pPr>
            <a:r>
              <a:t>For patients with 2 previous no-shows, the rate reaches 71.2% in the 31–60 day band.</a:t>
            </a:r>
          </a:p>
          <a:p>
            <a:pPr>
              <a:spcAft>
                <a:spcPts val="1000"/>
              </a:spcAft>
              <a:defRPr sz="1400">
                <a:solidFill>
                  <a:srgbClr val="303030"/>
                </a:solidFill>
              </a:defRPr>
            </a:pPr>
            <a:r>
              <a:t>The highest observed cells are concentrated among patients with prior no-shows and longer lead times.</a:t>
            </a:r>
          </a:p>
          <a:p>
            <a:pPr>
              <a:spcAft>
                <a:spcPts val="1000"/>
              </a:spcAft>
              <a:defRPr sz="1400">
                <a:solidFill>
                  <a:srgbClr val="303030"/>
                </a:solidFill>
              </a:defRPr>
            </a:pPr>
            <a:r>
              <a:t>This interaction was directly useful to Data Science: a previous_no_shows × booking_lead_days interaction was tested and retained.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969"/>
                </a:solidFill>
              </a:defRPr>
            </a:pPr>
            <a:r>
              <a:t>HealthConnect | Data Analytics | Week 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9C355BF-B8D3-F58B-FF8F-AB750F3A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536192"/>
            <a:ext cx="6179574" cy="3129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85945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Cross-Track Validation: Data Analytics vs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The Data Science team independently recomputed the four quantitative findings.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57932"/>
              </p:ext>
            </p:extLst>
          </p:nvPr>
        </p:nvGraphicFramePr>
        <p:xfrm>
          <a:off x="685800" y="1508760"/>
          <a:ext cx="10835640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Data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Data Science </a:t>
                      </a:r>
                      <a:r>
                        <a:rPr dirty="0" err="1"/>
                        <a:t>recomputation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Previous no-shows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43.5% → 68.8%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46.3% →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67352"/>
                          </a:solidFill>
                        </a:defRPr>
                      </a:pPr>
                      <a:r>
                        <a:t>Replicated closely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31–60 day 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67352"/>
                          </a:solidFill>
                        </a:defRPr>
                      </a:pPr>
                      <a:r>
                        <a:t>Same direction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Reminder: Yes vs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47.4% vs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49.9% vs 54.6%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67352"/>
                          </a:solidFill>
                        </a:defRPr>
                      </a:pPr>
                      <a:r>
                        <a:t>Same direction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Distance ≥20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303030"/>
                          </a:solidFill>
                        </a:defRPr>
                      </a:pPr>
                      <a:r>
                        <a:t>60.2%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367352"/>
                          </a:solidFill>
                        </a:defRPr>
                      </a:pPr>
                      <a:r>
                        <a:rPr dirty="0"/>
                        <a:t>Same direction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983480"/>
            <a:ext cx="3291840" cy="9784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KEY VALIDATION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algn="ctr">
              <a:defRPr sz="1000" b="1">
                <a:solidFill>
                  <a:srgbClr val="696969"/>
                </a:solidFill>
              </a:defRPr>
            </a:pPr>
            <a:endParaRPr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Same underlying patterns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900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All four findings replicated closely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983480"/>
            <a:ext cx="329184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IMPORTANT NUANCE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algn="ctr">
              <a:defRPr sz="1000" b="1">
                <a:solidFill>
                  <a:srgbClr val="696969"/>
                </a:solidFill>
              </a:defRPr>
            </a:pPr>
            <a:endParaRPr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Descriptive ≠ predictive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900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Previous no-shows strongest descriptively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983480"/>
            <a:ext cx="3291840" cy="9144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MODEL VIEW</a:t>
            </a: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algn="ctr">
              <a:defRPr sz="1000" b="1">
                <a:solidFill>
                  <a:srgbClr val="696969"/>
                </a:solidFill>
              </a:defRPr>
            </a:pPr>
            <a:endParaRPr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Lead time + distance ranked higher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900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Multivariate importance can differ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969"/>
                </a:solidFill>
              </a:defRPr>
            </a:pPr>
            <a:r>
              <a:t>HealthConnect | Data Analytics | Week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616066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What Changed Because of the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The collaboration produced a measurable modelling change, not just an exchange of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3383280" cy="1417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FEATURE CHANGE 1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Lead-time band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0–7 / 8–14 / 15–30 / 31–60 days tested alongside continuous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booking_lead_days</a:t>
            </a:r>
            <a:endParaRPr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383280" cy="1417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FEATURE CHANGE 2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History × lead time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previous_no_shows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× </a:t>
            </a: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booking_lead_days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interaction tested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17320"/>
            <a:ext cx="3383280" cy="1417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MODEL RESULT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ROC-AUC 0.680 → 0.682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Both additions retained after measurable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3327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03030"/>
                </a:solidFill>
              </a:defRPr>
            </a:pPr>
            <a:r>
              <a:rPr dirty="0"/>
              <a:t>Data Analytics provided the lead-time bands and evidence that prior no-show </a:t>
            </a:r>
            <a:r>
              <a:rPr dirty="0" err="1"/>
              <a:t>behaviour</a:t>
            </a:r>
            <a:r>
              <a:rPr dirty="0"/>
              <a:t> interacts with longer booking horizons.</a:t>
            </a:r>
          </a:p>
          <a:p>
            <a:pPr>
              <a:spcAft>
                <a:spcPts val="1000"/>
              </a:spcAft>
              <a:defRPr sz="1500">
                <a:solidFill>
                  <a:srgbClr val="303030"/>
                </a:solidFill>
              </a:defRPr>
            </a:pPr>
            <a:r>
              <a:rPr dirty="0"/>
              <a:t>Data Science incorporated both suggestions into feature engineering and retained them in the Week 6 candidate model.</a:t>
            </a:r>
          </a:p>
          <a:p>
            <a:pPr>
              <a:spcAft>
                <a:spcPts val="1000"/>
              </a:spcAft>
              <a:defRPr sz="1500">
                <a:solidFill>
                  <a:srgbClr val="303030"/>
                </a:solidFill>
              </a:defRPr>
            </a:pPr>
            <a:r>
              <a:rPr dirty="0"/>
              <a:t>The model also highlighted an important distinction: booking lead time and distance ranked above previous no-shows in predictive importance.</a:t>
            </a:r>
          </a:p>
          <a:p>
            <a:pPr>
              <a:spcAft>
                <a:spcPts val="1000"/>
              </a:spcAft>
              <a:defRPr sz="1500">
                <a:solidFill>
                  <a:srgbClr val="303030"/>
                </a:solidFill>
              </a:defRPr>
            </a:pPr>
            <a:r>
              <a:rPr dirty="0"/>
              <a:t>Interpretation: previous no-show history is a strong descriptive signal, while its incremental predictive contribution is partly absorbed by correlated variables in a multivariate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969"/>
                </a:solidFill>
              </a:defRPr>
            </a:pPr>
            <a:r>
              <a:t>HealthConnect | Data Analytics | Week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934230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Additional Analysis: 31–60 Day Lead Time by Appointment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This directly addresses the additional analytical requirement identified by Data Science.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5544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303030"/>
                </a:solidFill>
              </a:defRPr>
            </a:pPr>
            <a:r>
              <a:t>The elevated 31–60 day no-show pattern is consistent across all four appointment types.</a:t>
            </a:r>
          </a:p>
          <a:p>
            <a:pPr>
              <a:spcAft>
                <a:spcPts val="1000"/>
              </a:spcAft>
              <a:defRPr sz="1500">
                <a:solidFill>
                  <a:srgbClr val="303030"/>
                </a:solidFill>
              </a:defRPr>
            </a:pPr>
            <a:r>
              <a:t>Follow-up appointments are highest at 65.1%.</a:t>
            </a:r>
          </a:p>
          <a:p>
            <a:pPr>
              <a:spcAft>
                <a:spcPts val="1000"/>
              </a:spcAft>
              <a:defRPr sz="1500">
                <a:solidFill>
                  <a:srgbClr val="303030"/>
                </a:solidFill>
              </a:defRPr>
            </a:pPr>
            <a:r>
              <a:t>General Consultation is lowest at 58.1%, but remains materially high.</a:t>
            </a:r>
          </a:p>
          <a:p>
            <a:pPr>
              <a:spcAft>
                <a:spcPts val="1000"/>
              </a:spcAft>
              <a:defRPr sz="1500">
                <a:solidFill>
                  <a:srgbClr val="303030"/>
                </a:solidFill>
              </a:defRPr>
            </a:pPr>
            <a:r>
              <a:t>This suggests the long-lead-time effect is not concentrated in only one appointment 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4107624"/>
            <a:ext cx="4480560" cy="96931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2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tlCol="0" anchor="ctr"/>
          <a:lstStyle/>
          <a:p>
            <a:pPr algn="ctr">
              <a:defRPr sz="1000" b="1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algn="ctr">
              <a:defRPr sz="1000" b="1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algn="ctr">
              <a:defRPr sz="1000" b="1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DECISION SUPPORT IMPLICATION</a:t>
            </a:r>
          </a:p>
          <a:p>
            <a:pPr>
              <a:defRPr sz="2400" b="1">
                <a:solidFill>
                  <a:srgbClr val="26374C"/>
                </a:solidFill>
              </a:defRPr>
            </a:pPr>
            <a:r>
              <a:rPr dirty="0" err="1">
                <a:solidFill>
                  <a:schemeClr val="accent6">
                    <a:lumMod val="50000"/>
                  </a:schemeClr>
                </a:solidFill>
              </a:rPr>
              <a:t>Prioritise</a:t>
            </a:r>
            <a:r>
              <a:rPr dirty="0">
                <a:solidFill>
                  <a:schemeClr val="accent6">
                    <a:lumMod val="50000"/>
                  </a:schemeClr>
                </a:solidFill>
              </a:rPr>
              <a:t> long-lead appointments</a:t>
            </a:r>
          </a:p>
          <a:p>
            <a:pPr>
              <a:defRPr sz="900">
                <a:solidFill>
                  <a:srgbClr val="696969"/>
                </a:solidFill>
              </a:defRPr>
            </a:pPr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>
              <a:defRPr sz="900">
                <a:solidFill>
                  <a:srgbClr val="696969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Use stronger confirmation/support across appointment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969"/>
                </a:solidFill>
              </a:defRPr>
            </a:pPr>
            <a:r>
              <a:t>HealthConnect | Data Analytics | Week 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9675B5F-7C4F-9885-F251-56297920A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" y="1653056"/>
            <a:ext cx="5302332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540940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6374C"/>
                </a:solidFill>
              </a:defRPr>
            </a:pPr>
            <a:r>
              <a:rPr dirty="0">
                <a:solidFill>
                  <a:schemeClr val="accent6">
                    <a:lumMod val="50000"/>
                  </a:schemeClr>
                </a:solidFill>
              </a:rPr>
              <a:t>Dashboard Update and Week 7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The dashboard now supports decision-making by combining segment interactions with cross-track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8258" y="2185514"/>
            <a:ext cx="3383280" cy="263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303030"/>
                </a:solidFill>
              </a:defRPr>
            </a:pPr>
            <a:r>
              <a:rPr dirty="0"/>
              <a:t>Keep the current interaction visuals: appointment type × lead time, previous no-shows × lead time, and previous no-shows × reminder.</a:t>
            </a:r>
          </a:p>
          <a:p>
            <a:pPr>
              <a:spcAft>
                <a:spcPts val="1000"/>
              </a:spcAft>
              <a:defRPr sz="1350">
                <a:solidFill>
                  <a:srgbClr val="303030"/>
                </a:solidFill>
              </a:defRPr>
            </a:pPr>
            <a:r>
              <a:rPr dirty="0"/>
              <a:t>Add a small cross-track validation panel showing Data Analytics vs Data Science recomputed figures.</a:t>
            </a:r>
          </a:p>
          <a:p>
            <a:pPr>
              <a:spcAft>
                <a:spcPts val="1000"/>
              </a:spcAft>
              <a:defRPr sz="1350">
                <a:solidFill>
                  <a:srgbClr val="303030"/>
                </a:solidFill>
              </a:defRPr>
            </a:pPr>
            <a:r>
              <a:rPr dirty="0"/>
              <a:t>For Week 7, test whether the candidate model and analytical recommendations remain stable on new or held-out data and monitor intervention performance.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96969"/>
                </a:solidFill>
              </a:defRPr>
            </a:pPr>
            <a:r>
              <a:t>HealthConnect | Data Analytics | Week 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411D01-8441-783E-6C00-12FAA0A49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6192"/>
            <a:ext cx="7377089" cy="40350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3a631d-7d37-4a93-9b26-d6c3aae3d312}" enabled="1" method="Privileged" siteId="{a05bcf50-df83-4cf8-9a6f-590abda9630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799</Words>
  <Application>Microsoft Office PowerPoint</Application>
  <PresentationFormat>Widescreen</PresentationFormat>
  <Paragraphs>116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Oluwakemi Olorunmaiye</cp:lastModifiedBy>
  <cp:revision>2</cp:revision>
  <dcterms:created xsi:type="dcterms:W3CDTF">2013-01-27T09:14:16Z</dcterms:created>
  <dcterms:modified xsi:type="dcterms:W3CDTF">2026-09-13T16:46:26Z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Public</vt:lpwstr>
  </property>
</Properties>
</file>